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5" r:id="rId4"/>
    <p:sldId id="266" r:id="rId5"/>
    <p:sldId id="267" r:id="rId6"/>
    <p:sldId id="268" r:id="rId7"/>
    <p:sldId id="270" r:id="rId8"/>
    <p:sldId id="271" r:id="rId9"/>
    <p:sldId id="272" r:id="rId10"/>
    <p:sldId id="269" r:id="rId11"/>
    <p:sldId id="273" r:id="rId12"/>
    <p:sldId id="274" r:id="rId13"/>
    <p:sldId id="275" r:id="rId14"/>
    <p:sldId id="276" r:id="rId15"/>
    <p:sldId id="277" r:id="rId16"/>
    <p:sldId id="278" r:id="rId17"/>
    <p:sldId id="27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4860" autoAdjust="0"/>
  </p:normalViewPr>
  <p:slideViewPr>
    <p:cSldViewPr snapToGrid="0">
      <p:cViewPr varScale="1">
        <p:scale>
          <a:sx n="61" d="100"/>
          <a:sy n="61" d="100"/>
        </p:scale>
        <p:origin x="108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C1FBC-518B-49C1-AC91-56CC5CD77D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3299A-DE81-493E-A10F-95482A2CD5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3879E-2347-4453-AC8F-375C06C67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1A60C-E8BB-4AD8-9036-5B354982DA35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20E6F-CDB6-48BF-99B4-F44867819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98D76-FBF2-40F8-A4E4-336FF916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C5113-0CC7-4948-BD99-E478624E0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748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3D26-28BD-4E4E-8CF8-163CE4351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77150-6731-4ACB-A449-58D066F0C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E06B94-F812-419F-A832-610FF7301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1A60C-E8BB-4AD8-9036-5B354982DA35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C7ED9F-80CF-478D-9A0B-6DE36F298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E3985-7B0C-45A5-B359-35673F5DB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C5113-0CC7-4948-BD99-E478624E0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16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B3DE8-6170-400B-9310-DE5B3FD8D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E48EF8-140C-49CF-8E73-064D3F8B5D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87F5D0-3663-44C8-A79F-99827F658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1A60C-E8BB-4AD8-9036-5B354982DA35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9DCD8-FCFF-4BE2-8685-F8DB3E54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34B81-8D0B-4695-8D49-471B21AF8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C5113-0CC7-4948-BD99-E478624E0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184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1C8D8-8C8C-47DC-B7AC-EBE50D443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C85FF-935C-49D3-AE74-6E4BBD4197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8A103E-2C1E-49B0-87B9-6E64B66796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42B113-0FF4-423C-ADED-55523A6D5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1A60C-E8BB-4AD8-9036-5B354982DA35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635903-C016-4895-B509-D9CF552BA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2E3293-4327-44CC-95BC-4E43056EC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C5113-0CC7-4948-BD99-E478624E0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979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91F99-7BF0-4568-83AA-A3C7A4A00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632AD9-7ABE-4565-A84E-624B36386D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952B61-0195-4A3D-B0EB-BCE9CEA974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983B46-F9B0-477A-9ABC-850C806039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15C13F-0F7E-48C2-A2D8-17C76AFC8A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8903B5-E020-465F-B6A6-9FA06D507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1A60C-E8BB-4AD8-9036-5B354982DA35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56C98B-CFC0-4888-8203-0AA69CA67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EBA8C3-4FEC-42AF-83DC-14AE1BF41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C5113-0CC7-4948-BD99-E478624E0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073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B14C8-02E0-4FD4-9DE8-2A5127D26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9352E8-5752-44C7-9A9D-3D07A4ECF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1A60C-E8BB-4AD8-9036-5B354982DA35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3F7EDF-1462-4D90-82D9-152D12217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388E38-AB54-4F33-852F-793272D65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C5113-0CC7-4948-BD99-E478624E0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119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644E37-3BBB-4852-BA95-1FA1A8094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1A60C-E8BB-4AD8-9036-5B354982DA35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554D6C-FC9E-491B-8249-AF1ABE8AB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301694-A8EE-4534-94ED-43B2382E4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C5113-0CC7-4948-BD99-E478624E0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809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5E68B-C4CA-4ABA-B2DD-36641A68E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B7B1F-75A3-47B1-9E5C-C610AEB35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84D8EA-BC29-4DDE-8C4E-4A7E8C6C71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842C9B-23BA-4F36-A8C6-93E85C4DC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1A60C-E8BB-4AD8-9036-5B354982DA35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5192D5-D5E3-4252-891D-3EF243C39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0D0555-3D96-49E5-A408-8B80F982B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C5113-0CC7-4948-BD99-E478624E0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328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1E51A-5358-46FF-90B9-53E162521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9A696F-26E6-4008-B58F-AF4583ED0A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621312-916F-40F7-93D9-B8622C3896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C91B71-EC31-42E1-8316-57C61B42F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1A60C-E8BB-4AD8-9036-5B354982DA35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03F9CC-028E-4A1F-BF83-8294DD36F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6D5EEF-7D3D-4667-BE63-63A6E9689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C5113-0CC7-4948-BD99-E478624E0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032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6CBB3-F042-44D7-ABD6-6CF247925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D841AA-B949-4100-AD84-10CA79A8DA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439F20-F805-4C3D-9E75-9346B80D9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1A60C-E8BB-4AD8-9036-5B354982DA35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B17636-E130-483E-AA6B-DA7547B58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3FE68-876B-4957-9C1E-E683CC927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C5113-0CC7-4948-BD99-E478624E0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501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80E05D-854F-4B86-827A-F15C763FDB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C35DA6-F7DF-4F4D-84A1-44AC41A92C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FB7AE9-ACC7-4AD3-91A4-84D58C942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1A60C-E8BB-4AD8-9036-5B354982DA35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75568-F0BF-4360-8B32-DBA52A92D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1D198-07A0-447A-84BA-7D05BDC00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C5113-0CC7-4948-BD99-E478624E0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304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66D087-B6BE-42FE-B834-881FC83C9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AF8CBB-C5D5-460B-A2E5-1A2BB5DB28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19DF88-3385-420F-9DC4-CBB823C255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1A60C-E8BB-4AD8-9036-5B354982DA35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0776F6-F847-4951-80A7-B340F7C7A7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04FFC-B6B7-4033-9AD1-90B25791B0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9C5113-0CC7-4948-BD99-E478624E0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392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B56B5-6893-4879-9F6C-EFB203703C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501567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HƯỚNG DẪN NCKH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414DD7-4F9A-469E-A724-2FEFAB2176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1501566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HƯỚNG DẪN VIẾT BÁO KHOA HỌC</a:t>
            </a:r>
          </a:p>
        </p:txBody>
      </p:sp>
    </p:spTree>
    <p:extLst>
      <p:ext uri="{BB962C8B-B14F-4D97-AF65-F5344CB8AC3E}">
        <p14:creationId xmlns:p14="http://schemas.microsoft.com/office/powerpoint/2010/main" val="2218847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82820-00F4-4D6F-9699-02E9D0854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09243" cy="880579"/>
          </a:xfrm>
        </p:spPr>
        <p:txBody>
          <a:bodyPr>
            <a:noAutofit/>
          </a:bodyPr>
          <a:lstStyle/>
          <a:p>
            <a:r>
              <a:rPr lang="vi-VN" dirty="0"/>
              <a:t>HƯỚNG DẪN VIẾT BÀI BÁO NGHIÊN CỨU KHOA HỌC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5EF79-EC02-42A7-B28B-713581167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45704"/>
            <a:ext cx="10836965" cy="524717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vi-VN" sz="2800" b="1" dirty="0">
                <a:solidFill>
                  <a:srgbClr val="FF0000"/>
                </a:solidFill>
              </a:rPr>
              <a:t>Xác định mục tiêu của bài báo</a:t>
            </a:r>
          </a:p>
          <a:p>
            <a:pPr>
              <a:lnSpc>
                <a:spcPct val="150000"/>
              </a:lnSpc>
            </a:pPr>
            <a:r>
              <a:rPr lang="vi-VN" dirty="0"/>
              <a:t>Trước khi viết, cần xác định rõ: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Vấn đề đang giải quyết là gì?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Tại sao nó quan trọng?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Bạn đã làm gì mới (phương pháp, dữ liệu, ứng dụng)?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Kết quả chính là gì?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Bài báo của đóng góp gì cho cộng đồng học thuật?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5447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82820-00F4-4D6F-9699-02E9D0854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09243" cy="880579"/>
          </a:xfrm>
        </p:spPr>
        <p:txBody>
          <a:bodyPr>
            <a:noAutofit/>
          </a:bodyPr>
          <a:lstStyle/>
          <a:p>
            <a:r>
              <a:rPr lang="vi-VN" dirty="0"/>
              <a:t>HƯỚNG DẪN VIẾT BÀI BÁO NGHIÊN CỨU KHOA HỌC</a:t>
            </a:r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5299E74-9F85-401D-B9A0-3726F220BD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3497" y="1073426"/>
            <a:ext cx="10885005" cy="51966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</a:rPr>
              <a:t>Bố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</a:rPr>
              <a:t>cục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</a:rPr>
              <a:t>tiêu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</a:rPr>
              <a:t>chuẩn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</a:rPr>
              <a:t>của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</a:rPr>
              <a:t>một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</a:rPr>
              <a:t>bài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</a:rPr>
              <a:t>báo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khoa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</a:rPr>
              <a:t>học</a:t>
            </a: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Thường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cấu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trúc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</a:rPr>
              <a:t>IMRaD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Introduction – Methods – Results – and – Discussion.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1.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Tiêu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đề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(Title)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Rõ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ràng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ngắn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gọn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nhưng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mô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tả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chính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xác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nội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dung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nghiên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cứu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Tránh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từ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ngữ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mơ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hồ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như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"A study on..."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hoặc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"New research about...".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2.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Tóm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tắt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(Abstract)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Tóm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tắt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ngắn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gọn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toàn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bộ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bài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viết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(100–250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từ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Nêu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rõ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mục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tiêu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phương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pháp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kết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quả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kết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luận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chính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Viết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sau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cùng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nhưng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đặt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đầu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bài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80088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82820-00F4-4D6F-9699-02E9D0854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182" y="161213"/>
            <a:ext cx="11009243" cy="880579"/>
          </a:xfrm>
        </p:spPr>
        <p:txBody>
          <a:bodyPr>
            <a:noAutofit/>
          </a:bodyPr>
          <a:lstStyle/>
          <a:p>
            <a:r>
              <a:rPr lang="vi-VN" dirty="0"/>
              <a:t>HƯỚNG DẪN VIẾT BÀI BÁO NGHIÊN CỨU KHOA HỌC</a:t>
            </a:r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5299E74-9F85-401D-B9A0-3726F220BD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32182" y="736992"/>
            <a:ext cx="10447683" cy="5750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</a:rPr>
              <a:t>Bố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</a:rPr>
              <a:t>cục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</a:rPr>
              <a:t>tiêu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</a:rPr>
              <a:t>chuẩn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</a:rPr>
              <a:t>của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</a:rPr>
              <a:t>một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</a:rPr>
              <a:t>bài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</a:rPr>
              <a:t>báo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khoa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</a:rPr>
              <a:t>học</a:t>
            </a: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3.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Từ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khóa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(Keywords)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3–7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từ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khóa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liên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quan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đến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lĩnh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vực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nghiên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cứu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Giúp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bài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báo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dễ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được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tìm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thấy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trên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các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cơ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sở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dữ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liệu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học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thuật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4.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Giới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thiệu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(Introduction)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Đặt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bối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cảnh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nghiên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cứu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Giới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thiệu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vấn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đề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tầm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quan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trọng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Tóm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tắt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các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nghiên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cứu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trước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liên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quan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(literature review).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Xác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định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khoảng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trống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(gap)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mục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tiêu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nghiên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cứu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của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bạn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Đôi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khi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cuối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phần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này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có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đóng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góp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(contribution)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chính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97094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82820-00F4-4D6F-9699-02E9D0854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182" y="161213"/>
            <a:ext cx="11009243" cy="880579"/>
          </a:xfrm>
        </p:spPr>
        <p:txBody>
          <a:bodyPr>
            <a:noAutofit/>
          </a:bodyPr>
          <a:lstStyle/>
          <a:p>
            <a:r>
              <a:rPr lang="vi-VN" dirty="0"/>
              <a:t>HƯỚNG DẪN VIẾT BÀI BÁO NGHIÊN CỨU KHOA HỌC</a:t>
            </a:r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5299E74-9F85-401D-B9A0-3726F220BD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32182" y="829757"/>
            <a:ext cx="11009243" cy="5750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</a:rPr>
              <a:t>Bố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</a:rPr>
              <a:t>cục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</a:rPr>
              <a:t>tiêu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</a:rPr>
              <a:t>chuẩn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</a:rPr>
              <a:t>của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</a:rPr>
              <a:t>một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</a:rPr>
              <a:t>bài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</a:rPr>
              <a:t>báo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khoa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</a:rPr>
              <a:t>học</a:t>
            </a: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indent="0">
              <a:buNone/>
            </a:pPr>
            <a:r>
              <a:rPr lang="vi-VN" b="1" dirty="0"/>
              <a:t>5. Phương pháp nghiên cứu (Methods / Materials and Methods)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Trình bày rõ bạn đã làm gì, làm như thế nào để người khác có thể lặp lại.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Bao gồm thiết kế nghiên cứu, quy trình, mô hình, công cụ, phần mềm, dữ liệu, tiêu chí đánh giá.</a:t>
            </a:r>
          </a:p>
          <a:p>
            <a:pPr marL="0" indent="0">
              <a:buNone/>
            </a:pPr>
            <a:r>
              <a:rPr lang="en-US" b="1" dirty="0"/>
              <a:t>6. </a:t>
            </a:r>
            <a:r>
              <a:rPr lang="vi-VN" b="1" dirty="0"/>
              <a:t>Kết quả (Results)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Trình bày dữ liệu, phân tích, bảng biểu, đồ thị.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cần bàn luận ở phần này quá nhiều – chỉ nêu những gì bạn quan sát được.</a:t>
            </a:r>
          </a:p>
          <a:p>
            <a:pPr marL="0" indent="0">
              <a:buNone/>
            </a:pPr>
            <a:r>
              <a:rPr lang="en-US" b="1" dirty="0"/>
              <a:t>7. </a:t>
            </a:r>
            <a:r>
              <a:rPr lang="vi-VN" b="1" dirty="0"/>
              <a:t>Thảo luận (Discussion)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Diễn giải ý nghĩa của kết quả.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So sánh với các nghiên cứu trước.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Nhấn mạnh đóng góp, giới hạn của nghiên cứu, gợi ý cho nghiên cứu tương lai.</a:t>
            </a:r>
          </a:p>
        </p:txBody>
      </p:sp>
    </p:spTree>
    <p:extLst>
      <p:ext uri="{BB962C8B-B14F-4D97-AF65-F5344CB8AC3E}">
        <p14:creationId xmlns:p14="http://schemas.microsoft.com/office/powerpoint/2010/main" val="1842719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82820-00F4-4D6F-9699-02E9D0854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182" y="161213"/>
            <a:ext cx="11009243" cy="880579"/>
          </a:xfrm>
        </p:spPr>
        <p:txBody>
          <a:bodyPr>
            <a:noAutofit/>
          </a:bodyPr>
          <a:lstStyle/>
          <a:p>
            <a:r>
              <a:rPr lang="vi-VN" dirty="0"/>
              <a:t>HƯỚNG DẪN VIẾT BÀI BÁO NGHIÊN CỨU KHOA HỌC</a:t>
            </a:r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5299E74-9F85-401D-B9A0-3726F220BD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32182" y="845195"/>
            <a:ext cx="11009243" cy="4858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</a:rPr>
              <a:t>Bố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</a:rPr>
              <a:t>cục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</a:rPr>
              <a:t>tiêu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</a:rPr>
              <a:t>chuẩn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</a:rPr>
              <a:t>của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</a:rPr>
              <a:t>một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</a:rPr>
              <a:t>bài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</a:rPr>
              <a:t>báo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khoa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</a:rPr>
              <a:t>học</a:t>
            </a: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vi-VN" b="1" dirty="0"/>
              <a:t>8. Kết luận (Conclusion)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Tóm tắt đóng góp chính và kết luận chính.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Gợi ý hướng nghiên cứu tiếp theo nếu có.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9. </a:t>
            </a:r>
            <a:r>
              <a:rPr lang="vi-VN" b="1" dirty="0"/>
              <a:t>Tài liệu tham khảo (References)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Theo định dạng chuẩn (APA, IEEE, Chicago, v.v. tùy theo tạp chí).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Dẫn đầy đủ các tài liệu đã trích dẫn.</a:t>
            </a:r>
          </a:p>
        </p:txBody>
      </p:sp>
    </p:spTree>
    <p:extLst>
      <p:ext uri="{BB962C8B-B14F-4D97-AF65-F5344CB8AC3E}">
        <p14:creationId xmlns:p14="http://schemas.microsoft.com/office/powerpoint/2010/main" val="266843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82820-00F4-4D6F-9699-02E9D0854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182" y="161213"/>
            <a:ext cx="11009243" cy="880579"/>
          </a:xfrm>
        </p:spPr>
        <p:txBody>
          <a:bodyPr>
            <a:noAutofit/>
          </a:bodyPr>
          <a:lstStyle/>
          <a:p>
            <a:r>
              <a:rPr lang="vi-VN" dirty="0"/>
              <a:t>HƯỚNG DẪN </a:t>
            </a:r>
            <a:r>
              <a:rPr lang="en-US" dirty="0"/>
              <a:t>VIẾT </a:t>
            </a:r>
            <a:r>
              <a:rPr lang="vi-VN" dirty="0"/>
              <a:t>BÁO NGHIÊN CỨU KHOA HỌC</a:t>
            </a:r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5299E74-9F85-401D-B9A0-3726F220BD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2854" y="801956"/>
            <a:ext cx="11476381" cy="4729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vi-VN" sz="3200" b="1" dirty="0">
                <a:solidFill>
                  <a:srgbClr val="FF0000"/>
                </a:solidFill>
              </a:rPr>
              <a:t>Một số nguyên tắc khi viết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b="1" dirty="0"/>
              <a:t>Viết rõ ràng, chính xác, ngắn gọn.</a:t>
            </a:r>
            <a:r>
              <a:rPr lang="vi-VN" dirty="0"/>
              <a:t> Hạn chế dài dòng, lặp ý.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b="1" dirty="0"/>
              <a:t>Tránh dùng đại từ cá nhân</a:t>
            </a:r>
            <a:r>
              <a:rPr lang="vi-VN" dirty="0"/>
              <a:t> (I/we), trừ khi tạp chí cho phép.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b="1" dirty="0"/>
              <a:t>Minh họa bằng hình ảnh và bảng</a:t>
            </a:r>
            <a:r>
              <a:rPr lang="vi-VN" dirty="0"/>
              <a:t> nếu cần. Đừng trình bày quá nhiều chữ mô tả dữ liệu.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b="1" dirty="0"/>
              <a:t>Luôn dẫn nguồn</a:t>
            </a:r>
            <a:r>
              <a:rPr lang="vi-VN" dirty="0"/>
              <a:t> khi sử dụng ý tưởng, kết quả, hoặc số liệu từ người khác.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b="1" dirty="0"/>
              <a:t>Luôn đọc kỹ hướng dẫn của tạp chí hoặc hội thảo bạn định gửi bài</a:t>
            </a:r>
            <a:r>
              <a:rPr lang="vi-VN" dirty="0"/>
              <a:t> (Author Guidelines).</a:t>
            </a:r>
          </a:p>
        </p:txBody>
      </p:sp>
    </p:spTree>
    <p:extLst>
      <p:ext uri="{BB962C8B-B14F-4D97-AF65-F5344CB8AC3E}">
        <p14:creationId xmlns:p14="http://schemas.microsoft.com/office/powerpoint/2010/main" val="775111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82820-00F4-4D6F-9699-02E9D0854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182" y="161213"/>
            <a:ext cx="11009243" cy="880579"/>
          </a:xfrm>
        </p:spPr>
        <p:txBody>
          <a:bodyPr>
            <a:noAutofit/>
          </a:bodyPr>
          <a:lstStyle/>
          <a:p>
            <a:r>
              <a:rPr lang="vi-VN" dirty="0"/>
              <a:t>HƯỚNG DẪN </a:t>
            </a:r>
            <a:r>
              <a:rPr lang="en-US" dirty="0"/>
              <a:t>VIẾT </a:t>
            </a:r>
            <a:r>
              <a:rPr lang="vi-VN" dirty="0"/>
              <a:t>BÁO NGHIÊN CỨU KHOA HỌC</a:t>
            </a:r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5299E74-9F85-401D-B9A0-3726F220BD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32182" y="843009"/>
            <a:ext cx="10727636" cy="34935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3200" b="1" dirty="0" err="1">
                <a:solidFill>
                  <a:srgbClr val="FF0000"/>
                </a:solidFill>
              </a:rPr>
              <a:t>Công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US" sz="3200" b="1" dirty="0" err="1">
                <a:solidFill>
                  <a:srgbClr val="FF0000"/>
                </a:solidFill>
              </a:rPr>
              <a:t>cụ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US" sz="3200" b="1" dirty="0" err="1">
                <a:solidFill>
                  <a:srgbClr val="FF0000"/>
                </a:solidFill>
              </a:rPr>
              <a:t>và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US" sz="3200" b="1" dirty="0" err="1">
                <a:solidFill>
                  <a:srgbClr val="FF0000"/>
                </a:solidFill>
              </a:rPr>
              <a:t>tài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US" sz="3200" b="1" dirty="0" err="1">
                <a:solidFill>
                  <a:srgbClr val="FF0000"/>
                </a:solidFill>
              </a:rPr>
              <a:t>nguyên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US" sz="3200" b="1" dirty="0" err="1">
                <a:solidFill>
                  <a:srgbClr val="FF0000"/>
                </a:solidFill>
              </a:rPr>
              <a:t>hỗ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US" sz="3200" b="1" dirty="0" err="1">
                <a:solidFill>
                  <a:srgbClr val="FF0000"/>
                </a:solidFill>
              </a:rPr>
              <a:t>trợ</a:t>
            </a:r>
            <a:endParaRPr lang="en-US" sz="32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Zotero / Mendeley / EndNote</a:t>
            </a:r>
            <a:r>
              <a:rPr lang="en-US" dirty="0"/>
              <a:t>: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trích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Grammarly / </a:t>
            </a:r>
            <a:r>
              <a:rPr lang="en-US" b="1" dirty="0" err="1"/>
              <a:t>ChatGPT</a:t>
            </a:r>
            <a:r>
              <a:rPr lang="en-US" dirty="0"/>
              <a:t>: </a:t>
            </a:r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 </a:t>
            </a:r>
            <a:r>
              <a:rPr lang="en-US" dirty="0" err="1"/>
              <a:t>ngữ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rõ</a:t>
            </a:r>
            <a:r>
              <a:rPr lang="en-US" dirty="0"/>
              <a:t>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văn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Overleaf</a:t>
            </a:r>
            <a:r>
              <a:rPr lang="en-US" dirty="0"/>
              <a:t>: </a:t>
            </a:r>
            <a:r>
              <a:rPr lang="en-US" dirty="0" err="1"/>
              <a:t>Soạn</a:t>
            </a:r>
            <a:r>
              <a:rPr lang="en-US" dirty="0"/>
              <a:t> </a:t>
            </a:r>
            <a:r>
              <a:rPr lang="en-US" dirty="0" err="1"/>
              <a:t>thảo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LaTeX (</a:t>
            </a:r>
            <a:r>
              <a:rPr lang="en-US" dirty="0" err="1"/>
              <a:t>phù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ngành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Google Scholar / ResearchGate / Semantic Scholar</a:t>
            </a:r>
            <a:r>
              <a:rPr lang="en-US" dirty="0"/>
              <a:t>: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khảo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72527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82820-00F4-4D6F-9699-02E9D0854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182" y="161213"/>
            <a:ext cx="11009243" cy="880579"/>
          </a:xfrm>
        </p:spPr>
        <p:txBody>
          <a:bodyPr>
            <a:noAutofit/>
          </a:bodyPr>
          <a:lstStyle/>
          <a:p>
            <a:r>
              <a:rPr lang="vi-VN" dirty="0"/>
              <a:t>HƯỚNG DẪN </a:t>
            </a:r>
            <a:r>
              <a:rPr lang="en-US" dirty="0"/>
              <a:t>VIẾT </a:t>
            </a:r>
            <a:r>
              <a:rPr lang="vi-VN" dirty="0"/>
              <a:t>BÁO NGHIÊN CỨU KHOA HỌC</a:t>
            </a:r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5299E74-9F85-401D-B9A0-3726F220BD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32182" y="833195"/>
            <a:ext cx="10727636" cy="4175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vi-VN" sz="3200" b="1" dirty="0">
                <a:solidFill>
                  <a:srgbClr val="FF0000"/>
                </a:solidFill>
              </a:rPr>
              <a:t>Lời khuyên cho người mới bắt đầu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400" dirty="0"/>
              <a:t>Bắt đầu từ </a:t>
            </a:r>
            <a:r>
              <a:rPr lang="vi-VN" sz="2400" b="1" dirty="0"/>
              <a:t>một nghiên cứu nhỏ, rõ ràng</a:t>
            </a:r>
            <a:r>
              <a:rPr lang="vi-VN" sz="2400" dirty="0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400" dirty="0"/>
              <a:t>Tìm và đọc 3–5 </a:t>
            </a:r>
            <a:r>
              <a:rPr lang="vi-VN" sz="2400" b="1" dirty="0"/>
              <a:t>bài báo tốt trong cùng lĩnh vực</a:t>
            </a:r>
            <a:r>
              <a:rPr lang="vi-VN" sz="2400" dirty="0"/>
              <a:t> để học cách viết.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400" dirty="0"/>
              <a:t>Viết từng phần, sau đó chỉnh sửa lại sau.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400" b="1" dirty="0"/>
              <a:t>Nhận góp ý</a:t>
            </a:r>
            <a:r>
              <a:rPr lang="vi-VN" sz="2400" dirty="0"/>
              <a:t> từ </a:t>
            </a:r>
            <a:r>
              <a:rPr lang="en-US" sz="2400" dirty="0"/>
              <a:t>GVHD</a:t>
            </a:r>
            <a:r>
              <a:rPr lang="vi-VN" sz="2400" dirty="0"/>
              <a:t>, bạn bè, người đi trước.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400" dirty="0"/>
              <a:t>Đừng sợ viết dở lúc đầu — cải thiện là cả quá trình!</a:t>
            </a:r>
          </a:p>
        </p:txBody>
      </p:sp>
    </p:spTree>
    <p:extLst>
      <p:ext uri="{BB962C8B-B14F-4D97-AF65-F5344CB8AC3E}">
        <p14:creationId xmlns:p14="http://schemas.microsoft.com/office/powerpoint/2010/main" val="36796812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82820-00F4-4D6F-9699-02E9D0854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182" y="161213"/>
            <a:ext cx="11009243" cy="880579"/>
          </a:xfrm>
        </p:spPr>
        <p:txBody>
          <a:bodyPr>
            <a:noAutofit/>
          </a:bodyPr>
          <a:lstStyle/>
          <a:p>
            <a:r>
              <a:rPr lang="vi-VN" dirty="0"/>
              <a:t>HƯỚNG DẪN </a:t>
            </a:r>
            <a:r>
              <a:rPr lang="en-US" dirty="0"/>
              <a:t>ĐỌC </a:t>
            </a:r>
            <a:r>
              <a:rPr lang="vi-VN" dirty="0"/>
              <a:t>BÁO NGHIÊN CỨU KHOA HỌC</a:t>
            </a:r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5299E74-9F85-401D-B9A0-3726F220BD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32182" y="1182444"/>
            <a:ext cx="11009243" cy="33089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vi-VN" b="1" dirty="0">
                <a:solidFill>
                  <a:srgbClr val="FF0000"/>
                </a:solidFill>
              </a:rPr>
              <a:t>MỤC TIÊU KHI ĐỌC BÀI BÁO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400" dirty="0"/>
              <a:t> </a:t>
            </a:r>
            <a:r>
              <a:rPr lang="vi-VN" sz="2400" dirty="0"/>
              <a:t>Nắm </a:t>
            </a:r>
            <a:r>
              <a:rPr lang="vi-VN" sz="2400" b="1" dirty="0"/>
              <a:t>ý chính</a:t>
            </a:r>
            <a:r>
              <a:rPr lang="vi-VN" sz="2400" dirty="0"/>
              <a:t> của nghiên cứu.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400" dirty="0"/>
              <a:t> </a:t>
            </a:r>
            <a:r>
              <a:rPr lang="vi-VN" sz="2400" dirty="0"/>
              <a:t>Hiểu được </a:t>
            </a:r>
            <a:r>
              <a:rPr lang="vi-VN" sz="2400" b="1" dirty="0"/>
              <a:t>đóng góp mới</a:t>
            </a:r>
            <a:r>
              <a:rPr lang="vi-VN" sz="2400" dirty="0"/>
              <a:t> của tác giả.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400" dirty="0"/>
              <a:t> </a:t>
            </a:r>
            <a:r>
              <a:rPr lang="vi-VN" sz="2400" dirty="0"/>
              <a:t>Nhận biết </a:t>
            </a:r>
            <a:r>
              <a:rPr lang="vi-VN" sz="2400" b="1" dirty="0"/>
              <a:t>phương pháp</a:t>
            </a:r>
            <a:r>
              <a:rPr lang="vi-VN" sz="2400" dirty="0"/>
              <a:t>, </a:t>
            </a:r>
            <a:r>
              <a:rPr lang="vi-VN" sz="2400" b="1" dirty="0"/>
              <a:t>kết quả</a:t>
            </a:r>
            <a:r>
              <a:rPr lang="vi-VN" sz="2400" dirty="0"/>
              <a:t>, và </a:t>
            </a:r>
            <a:r>
              <a:rPr lang="vi-VN" sz="2400" b="1" dirty="0"/>
              <a:t>ứng dụng</a:t>
            </a:r>
            <a:r>
              <a:rPr lang="vi-VN" sz="2400" dirty="0"/>
              <a:t>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400" dirty="0"/>
              <a:t> </a:t>
            </a:r>
            <a:r>
              <a:rPr lang="vi-VN" sz="2400" dirty="0"/>
              <a:t>Đánh giá được </a:t>
            </a:r>
            <a:r>
              <a:rPr lang="vi-VN" sz="2400" b="1" dirty="0"/>
              <a:t>giá trị</a:t>
            </a:r>
            <a:r>
              <a:rPr lang="vi-VN" sz="2400" dirty="0"/>
              <a:t> và </a:t>
            </a:r>
            <a:r>
              <a:rPr lang="vi-VN" sz="2400" b="1" dirty="0"/>
              <a:t>tính phù hợp</a:t>
            </a:r>
            <a:r>
              <a:rPr lang="vi-VN" sz="2400" dirty="0"/>
              <a:t> của bài báo với đề tài đang làm.</a:t>
            </a:r>
          </a:p>
        </p:txBody>
      </p:sp>
    </p:spTree>
    <p:extLst>
      <p:ext uri="{BB962C8B-B14F-4D97-AF65-F5344CB8AC3E}">
        <p14:creationId xmlns:p14="http://schemas.microsoft.com/office/powerpoint/2010/main" val="17642947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82820-00F4-4D6F-9699-02E9D0854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182" y="161213"/>
            <a:ext cx="11009243" cy="880579"/>
          </a:xfrm>
        </p:spPr>
        <p:txBody>
          <a:bodyPr>
            <a:noAutofit/>
          </a:bodyPr>
          <a:lstStyle/>
          <a:p>
            <a:r>
              <a:rPr lang="vi-VN" dirty="0"/>
              <a:t>HƯỚNG DẪN </a:t>
            </a:r>
            <a:r>
              <a:rPr lang="en-US" dirty="0"/>
              <a:t>ĐỌC </a:t>
            </a:r>
            <a:r>
              <a:rPr lang="vi-VN" dirty="0"/>
              <a:t>BÁO NGHIÊN CỨU KHOA HỌC</a:t>
            </a:r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5299E74-9F85-401D-B9A0-3726F220BD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32182" y="877636"/>
            <a:ext cx="11009243" cy="5572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solidFill>
                  <a:srgbClr val="0070C0"/>
                </a:solidFill>
              </a:rPr>
              <a:t>QUY TRÌNH 3-VÒNG KINH ĐIỂN ĐỂ ĐỌC MỘT BÀI BÁO KHOA HỌC</a:t>
            </a: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VÒNG 1: ĐỌC LƯỚT – NẮM Ý CHÍNH (5-10 </a:t>
            </a:r>
            <a:r>
              <a:rPr lang="en-US" b="1" dirty="0" err="1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phút</a:t>
            </a:r>
            <a:r>
              <a:rPr lang="en-US" b="1" dirty="0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)</a:t>
            </a:r>
            <a:endParaRPr lang="en-US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effectLst/>
                <a:ea typeface="Times New Roman" panose="02020603050405020304" pitchFamily="18" charset="0"/>
              </a:rPr>
              <a:t>Mục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tiêu</a:t>
            </a:r>
            <a:r>
              <a:rPr lang="en-US" dirty="0">
                <a:effectLst/>
                <a:ea typeface="Times New Roman" panose="02020603050405020304" pitchFamily="18" charset="0"/>
              </a:rPr>
              <a:t>: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Biết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bài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này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nói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về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cái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gì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và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có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phù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hợp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với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đề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tài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của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mình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không</a:t>
            </a:r>
            <a:r>
              <a:rPr lang="en-US" dirty="0">
                <a:effectLst/>
                <a:ea typeface="Times New Roman" panose="02020603050405020304" pitchFamily="18" charset="0"/>
              </a:rPr>
              <a:t>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err="1">
                <a:solidFill>
                  <a:srgbClr val="0070C0"/>
                </a:solidFill>
                <a:effectLst/>
                <a:ea typeface="Times New Roman" panose="02020603050405020304" pitchFamily="18" charset="0"/>
              </a:rPr>
              <a:t>Đọc</a:t>
            </a:r>
            <a:r>
              <a:rPr lang="en-US" b="1" dirty="0">
                <a:solidFill>
                  <a:srgbClr val="0070C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70C0"/>
                </a:solidFill>
                <a:effectLst/>
                <a:ea typeface="Times New Roman" panose="02020603050405020304" pitchFamily="18" charset="0"/>
              </a:rPr>
              <a:t>các</a:t>
            </a:r>
            <a:r>
              <a:rPr lang="en-US" b="1" dirty="0">
                <a:solidFill>
                  <a:srgbClr val="0070C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70C0"/>
                </a:solidFill>
                <a:effectLst/>
                <a:ea typeface="Times New Roman" panose="02020603050405020304" pitchFamily="18" charset="0"/>
              </a:rPr>
              <a:t>phần</a:t>
            </a:r>
            <a:r>
              <a:rPr lang="en-US" b="1" dirty="0">
                <a:solidFill>
                  <a:srgbClr val="0070C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70C0"/>
                </a:solidFill>
                <a:effectLst/>
                <a:ea typeface="Times New Roman" panose="02020603050405020304" pitchFamily="18" charset="0"/>
              </a:rPr>
              <a:t>sau</a:t>
            </a:r>
            <a:r>
              <a:rPr lang="en-US" b="1" dirty="0">
                <a:solidFill>
                  <a:srgbClr val="0070C0"/>
                </a:solidFill>
                <a:effectLst/>
                <a:ea typeface="Times New Roman" panose="02020603050405020304" pitchFamily="18" charset="0"/>
              </a:rPr>
              <a:t>:</a:t>
            </a:r>
            <a:endParaRPr lang="en-US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 err="1">
                <a:effectLst/>
                <a:ea typeface="Times New Roman" panose="02020603050405020304" pitchFamily="18" charset="0"/>
              </a:rPr>
              <a:t>Tiêu</a:t>
            </a:r>
            <a:r>
              <a:rPr lang="en-US" b="1" dirty="0">
                <a:effectLst/>
                <a:ea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ea typeface="Times New Roman" panose="02020603050405020304" pitchFamily="18" charset="0"/>
              </a:rPr>
              <a:t>đề</a:t>
            </a:r>
            <a:r>
              <a:rPr lang="en-US" dirty="0">
                <a:effectLst/>
                <a:ea typeface="Times New Roman" panose="02020603050405020304" pitchFamily="18" charset="0"/>
              </a:rPr>
              <a:t> →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Xem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nghiên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cứu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liên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quan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tới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lĩnh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vực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nào</a:t>
            </a:r>
            <a:r>
              <a:rPr lang="en-US" dirty="0">
                <a:effectLst/>
                <a:ea typeface="Times New Roman" panose="02020603050405020304" pitchFamily="18" charset="0"/>
              </a:rPr>
              <a:t>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 err="1">
                <a:effectLst/>
                <a:ea typeface="Times New Roman" panose="02020603050405020304" pitchFamily="18" charset="0"/>
              </a:rPr>
              <a:t>Tóm</a:t>
            </a:r>
            <a:r>
              <a:rPr lang="en-US" b="1" dirty="0">
                <a:effectLst/>
                <a:ea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ea typeface="Times New Roman" panose="02020603050405020304" pitchFamily="18" charset="0"/>
              </a:rPr>
              <a:t>tắt</a:t>
            </a:r>
            <a:r>
              <a:rPr lang="en-US" b="1" dirty="0">
                <a:effectLst/>
                <a:ea typeface="Times New Roman" panose="02020603050405020304" pitchFamily="18" charset="0"/>
              </a:rPr>
              <a:t> (Abstract)</a:t>
            </a:r>
            <a:r>
              <a:rPr lang="en-US" dirty="0">
                <a:effectLst/>
                <a:ea typeface="Times New Roman" panose="02020603050405020304" pitchFamily="18" charset="0"/>
              </a:rPr>
              <a:t> →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Nắm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được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mục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tiêu</a:t>
            </a:r>
            <a:r>
              <a:rPr lang="en-US" dirty="0">
                <a:effectLst/>
                <a:ea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phương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pháp</a:t>
            </a:r>
            <a:r>
              <a:rPr lang="en-US" dirty="0">
                <a:effectLst/>
                <a:ea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kết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quả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chính</a:t>
            </a:r>
            <a:r>
              <a:rPr lang="en-US" dirty="0">
                <a:effectLst/>
                <a:ea typeface="Times New Roman" panose="02020603050405020304" pitchFamily="18" charset="0"/>
              </a:rPr>
              <a:t>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 err="1">
                <a:effectLst/>
                <a:ea typeface="Times New Roman" panose="02020603050405020304" pitchFamily="18" charset="0"/>
              </a:rPr>
              <a:t>Từ</a:t>
            </a:r>
            <a:r>
              <a:rPr lang="en-US" b="1" dirty="0">
                <a:effectLst/>
                <a:ea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ea typeface="Times New Roman" panose="02020603050405020304" pitchFamily="18" charset="0"/>
              </a:rPr>
              <a:t>khóa</a:t>
            </a:r>
            <a:r>
              <a:rPr lang="en-US" b="1" dirty="0">
                <a:effectLst/>
                <a:ea typeface="Times New Roman" panose="02020603050405020304" pitchFamily="18" charset="0"/>
              </a:rPr>
              <a:t> (Keywords)</a:t>
            </a:r>
            <a:r>
              <a:rPr lang="en-US" dirty="0">
                <a:effectLst/>
                <a:ea typeface="Times New Roman" panose="02020603050405020304" pitchFamily="18" charset="0"/>
              </a:rPr>
              <a:t> →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Xác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định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lĩnh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vực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cụ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thể</a:t>
            </a:r>
            <a:r>
              <a:rPr lang="en-US" dirty="0">
                <a:effectLst/>
                <a:ea typeface="Times New Roman" panose="02020603050405020304" pitchFamily="18" charset="0"/>
              </a:rPr>
              <a:t>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 err="1">
                <a:effectLst/>
                <a:ea typeface="Times New Roman" panose="02020603050405020304" pitchFamily="18" charset="0"/>
              </a:rPr>
              <a:t>Kết</a:t>
            </a:r>
            <a:r>
              <a:rPr lang="en-US" b="1" dirty="0">
                <a:effectLst/>
                <a:ea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ea typeface="Times New Roman" panose="02020603050405020304" pitchFamily="18" charset="0"/>
              </a:rPr>
              <a:t>luận</a:t>
            </a:r>
            <a:r>
              <a:rPr lang="en-US" b="1" dirty="0">
                <a:effectLst/>
                <a:ea typeface="Times New Roman" panose="02020603050405020304" pitchFamily="18" charset="0"/>
              </a:rPr>
              <a:t> (Conclusion)</a:t>
            </a:r>
            <a:r>
              <a:rPr lang="en-US" dirty="0">
                <a:effectLst/>
                <a:ea typeface="Times New Roman" panose="02020603050405020304" pitchFamily="18" charset="0"/>
              </a:rPr>
              <a:t> →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Nắm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được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kết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quả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và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đóng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góp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tổng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thể</a:t>
            </a:r>
            <a:r>
              <a:rPr lang="en-US" dirty="0">
                <a:effectLst/>
                <a:ea typeface="Times New Roman" panose="02020603050405020304" pitchFamily="18" charset="0"/>
              </a:rPr>
              <a:t>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 err="1">
                <a:effectLst/>
                <a:ea typeface="Times New Roman" panose="02020603050405020304" pitchFamily="18" charset="0"/>
              </a:rPr>
              <a:t>Hình</a:t>
            </a:r>
            <a:r>
              <a:rPr lang="en-US" b="1" dirty="0">
                <a:effectLst/>
                <a:ea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ea typeface="Times New Roman" panose="02020603050405020304" pitchFamily="18" charset="0"/>
              </a:rPr>
              <a:t>ảnh</a:t>
            </a:r>
            <a:r>
              <a:rPr lang="en-US" b="1" dirty="0">
                <a:effectLst/>
                <a:ea typeface="Times New Roman" panose="02020603050405020304" pitchFamily="18" charset="0"/>
              </a:rPr>
              <a:t>, </a:t>
            </a:r>
            <a:r>
              <a:rPr lang="en-US" b="1" dirty="0" err="1">
                <a:effectLst/>
                <a:ea typeface="Times New Roman" panose="02020603050405020304" pitchFamily="18" charset="0"/>
              </a:rPr>
              <a:t>đồ</a:t>
            </a:r>
            <a:r>
              <a:rPr lang="en-US" b="1" dirty="0">
                <a:effectLst/>
                <a:ea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ea typeface="Times New Roman" panose="02020603050405020304" pitchFamily="18" charset="0"/>
              </a:rPr>
              <a:t>thị</a:t>
            </a:r>
            <a:r>
              <a:rPr lang="en-US" dirty="0">
                <a:effectLst/>
                <a:ea typeface="Times New Roman" panose="02020603050405020304" pitchFamily="18" charset="0"/>
              </a:rPr>
              <a:t> →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Nhìn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nhanh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xem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họ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làm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gì</a:t>
            </a:r>
            <a:r>
              <a:rPr lang="en-US" dirty="0">
                <a:effectLst/>
                <a:ea typeface="Times New Roman" panose="02020603050405020304" pitchFamily="18" charset="0"/>
              </a:rPr>
              <a:t>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🎯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i="1" dirty="0">
                <a:effectLst/>
                <a:ea typeface="Times New Roman" panose="02020603050405020304" pitchFamily="18" charset="0"/>
              </a:rPr>
              <a:t>Sau </a:t>
            </a:r>
            <a:r>
              <a:rPr lang="en-US" i="1" dirty="0" err="1">
                <a:effectLst/>
                <a:ea typeface="Times New Roman" panose="02020603050405020304" pitchFamily="18" charset="0"/>
              </a:rPr>
              <a:t>bước</a:t>
            </a:r>
            <a:r>
              <a:rPr lang="en-US" i="1" dirty="0">
                <a:effectLst/>
                <a:ea typeface="Times New Roman" panose="02020603050405020304" pitchFamily="18" charset="0"/>
              </a:rPr>
              <a:t> </a:t>
            </a:r>
            <a:r>
              <a:rPr lang="en-US" i="1" dirty="0" err="1">
                <a:effectLst/>
                <a:ea typeface="Times New Roman" panose="02020603050405020304" pitchFamily="18" charset="0"/>
              </a:rPr>
              <a:t>này</a:t>
            </a:r>
            <a:r>
              <a:rPr lang="en-US" i="1" dirty="0">
                <a:effectLst/>
                <a:ea typeface="Times New Roman" panose="02020603050405020304" pitchFamily="18" charset="0"/>
              </a:rPr>
              <a:t>, </a:t>
            </a:r>
            <a:r>
              <a:rPr lang="en-US" i="1" dirty="0" err="1">
                <a:effectLst/>
                <a:ea typeface="Times New Roman" panose="02020603050405020304" pitchFamily="18" charset="0"/>
              </a:rPr>
              <a:t>bạn</a:t>
            </a:r>
            <a:r>
              <a:rPr lang="en-US" i="1" dirty="0">
                <a:effectLst/>
                <a:ea typeface="Times New Roman" panose="02020603050405020304" pitchFamily="18" charset="0"/>
              </a:rPr>
              <a:t> </a:t>
            </a:r>
            <a:r>
              <a:rPr lang="en-US" i="1" dirty="0" err="1">
                <a:effectLst/>
                <a:ea typeface="Times New Roman" panose="02020603050405020304" pitchFamily="18" charset="0"/>
              </a:rPr>
              <a:t>có</a:t>
            </a:r>
            <a:r>
              <a:rPr lang="en-US" i="1" dirty="0">
                <a:effectLst/>
                <a:ea typeface="Times New Roman" panose="02020603050405020304" pitchFamily="18" charset="0"/>
              </a:rPr>
              <a:t> </a:t>
            </a:r>
            <a:r>
              <a:rPr lang="en-US" i="1" dirty="0" err="1">
                <a:effectLst/>
                <a:ea typeface="Times New Roman" panose="02020603050405020304" pitchFamily="18" charset="0"/>
              </a:rPr>
              <a:t>thể</a:t>
            </a:r>
            <a:r>
              <a:rPr lang="en-US" i="1" dirty="0">
                <a:effectLst/>
                <a:ea typeface="Times New Roman" panose="02020603050405020304" pitchFamily="18" charset="0"/>
              </a:rPr>
              <a:t> </a:t>
            </a:r>
            <a:r>
              <a:rPr lang="en-US" i="1" dirty="0" err="1">
                <a:effectLst/>
                <a:ea typeface="Times New Roman" panose="02020603050405020304" pitchFamily="18" charset="0"/>
              </a:rPr>
              <a:t>quyết</a:t>
            </a:r>
            <a:r>
              <a:rPr lang="en-US" i="1" dirty="0">
                <a:effectLst/>
                <a:ea typeface="Times New Roman" panose="02020603050405020304" pitchFamily="18" charset="0"/>
              </a:rPr>
              <a:t> </a:t>
            </a:r>
            <a:r>
              <a:rPr lang="en-US" i="1" dirty="0" err="1">
                <a:effectLst/>
                <a:ea typeface="Times New Roman" panose="02020603050405020304" pitchFamily="18" charset="0"/>
              </a:rPr>
              <a:t>định</a:t>
            </a:r>
            <a:r>
              <a:rPr lang="en-US" i="1" dirty="0">
                <a:effectLst/>
                <a:ea typeface="Times New Roman" panose="02020603050405020304" pitchFamily="18" charset="0"/>
              </a:rPr>
              <a:t>: </a:t>
            </a:r>
            <a:r>
              <a:rPr lang="en-US" i="1" dirty="0" err="1">
                <a:effectLst/>
                <a:ea typeface="Times New Roman" panose="02020603050405020304" pitchFamily="18" charset="0"/>
              </a:rPr>
              <a:t>Có</a:t>
            </a:r>
            <a:r>
              <a:rPr lang="en-US" i="1" dirty="0">
                <a:effectLst/>
                <a:ea typeface="Times New Roman" panose="02020603050405020304" pitchFamily="18" charset="0"/>
              </a:rPr>
              <a:t> </a:t>
            </a:r>
            <a:r>
              <a:rPr lang="en-US" i="1" dirty="0" err="1">
                <a:effectLst/>
                <a:ea typeface="Times New Roman" panose="02020603050405020304" pitchFamily="18" charset="0"/>
              </a:rPr>
              <a:t>nên</a:t>
            </a:r>
            <a:r>
              <a:rPr lang="en-US" i="1" dirty="0">
                <a:effectLst/>
                <a:ea typeface="Times New Roman" panose="02020603050405020304" pitchFamily="18" charset="0"/>
              </a:rPr>
              <a:t> </a:t>
            </a:r>
            <a:r>
              <a:rPr lang="en-US" i="1" dirty="0" err="1">
                <a:effectLst/>
                <a:ea typeface="Times New Roman" panose="02020603050405020304" pitchFamily="18" charset="0"/>
              </a:rPr>
              <a:t>đọc</a:t>
            </a:r>
            <a:r>
              <a:rPr lang="en-US" i="1" dirty="0">
                <a:effectLst/>
                <a:ea typeface="Times New Roman" panose="02020603050405020304" pitchFamily="18" charset="0"/>
              </a:rPr>
              <a:t> </a:t>
            </a:r>
            <a:r>
              <a:rPr lang="en-US" i="1" dirty="0" err="1">
                <a:effectLst/>
                <a:ea typeface="Times New Roman" panose="02020603050405020304" pitchFamily="18" charset="0"/>
              </a:rPr>
              <a:t>kỹ</a:t>
            </a:r>
            <a:r>
              <a:rPr lang="en-US" i="1" dirty="0">
                <a:effectLst/>
                <a:ea typeface="Times New Roman" panose="02020603050405020304" pitchFamily="18" charset="0"/>
              </a:rPr>
              <a:t> </a:t>
            </a:r>
            <a:r>
              <a:rPr lang="en-US" i="1" dirty="0" err="1">
                <a:effectLst/>
                <a:ea typeface="Times New Roman" panose="02020603050405020304" pitchFamily="18" charset="0"/>
              </a:rPr>
              <a:t>hơn</a:t>
            </a:r>
            <a:r>
              <a:rPr lang="en-US" i="1" dirty="0">
                <a:effectLst/>
                <a:ea typeface="Times New Roman" panose="02020603050405020304" pitchFamily="18" charset="0"/>
              </a:rPr>
              <a:t> </a:t>
            </a:r>
            <a:r>
              <a:rPr lang="en-US" i="1" dirty="0" err="1">
                <a:effectLst/>
                <a:ea typeface="Times New Roman" panose="02020603050405020304" pitchFamily="18" charset="0"/>
              </a:rPr>
              <a:t>không</a:t>
            </a:r>
            <a:r>
              <a:rPr lang="en-US" i="1" dirty="0">
                <a:effectLst/>
                <a:ea typeface="Times New Roman" panose="02020603050405020304" pitchFamily="18" charset="0"/>
              </a:rPr>
              <a:t>?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61750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82820-00F4-4D6F-9699-02E9D0854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182" y="161213"/>
            <a:ext cx="11009243" cy="880579"/>
          </a:xfrm>
        </p:spPr>
        <p:txBody>
          <a:bodyPr>
            <a:noAutofit/>
          </a:bodyPr>
          <a:lstStyle/>
          <a:p>
            <a:r>
              <a:rPr lang="vi-VN" dirty="0"/>
              <a:t>HƯỚNG DẪN </a:t>
            </a:r>
            <a:r>
              <a:rPr lang="en-US" dirty="0"/>
              <a:t>ĐỌC </a:t>
            </a:r>
            <a:r>
              <a:rPr lang="vi-VN" dirty="0"/>
              <a:t>BÁO NGHIÊN CỨU KHOA HỌC</a:t>
            </a:r>
            <a:endParaRPr lang="en-US" dirty="0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3801125B-4B6D-4210-8335-BD3F9CD46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183" y="897767"/>
            <a:ext cx="11459818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 TRÌNH 3-VÒNG KINH ĐIỂN ĐỂ ĐỌC MỘT BÀI BÁO KHOA HỌC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VÒNG 2: ĐỌC CÓ CHỌN LỌC – TẬP TRUNG PHẦN QUAN TRỌNG (15–30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phút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Hiểu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rõ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gì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đóng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góp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gì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đâu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đọc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sâu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thiệu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(Introduction)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vấn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giả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muốn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quyết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Hiểu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bối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cảnh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khoảng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trống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nghiên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cứu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(Methods)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giả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gì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?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nào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mình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(Results)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Thảo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luận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(Discussion)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đáng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cậy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họa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So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sánh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nghiên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cứu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nào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📌 </a:t>
            </a:r>
            <a:r>
              <a:rPr kumimoji="0" lang="en-US" altLang="en-US" sz="2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Ghi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chú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/ý </a:t>
            </a:r>
            <a:r>
              <a:rPr kumimoji="0" lang="en-US" altLang="en-US" sz="2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trọng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bút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highlight </a:t>
            </a:r>
            <a:r>
              <a:rPr kumimoji="0" lang="en-US" altLang="en-US" sz="2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comment.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06188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82820-00F4-4D6F-9699-02E9D0854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182" y="161213"/>
            <a:ext cx="11009243" cy="880579"/>
          </a:xfrm>
        </p:spPr>
        <p:txBody>
          <a:bodyPr>
            <a:noAutofit/>
          </a:bodyPr>
          <a:lstStyle/>
          <a:p>
            <a:r>
              <a:rPr lang="vi-VN" dirty="0"/>
              <a:t>HƯỚNG DẪN </a:t>
            </a:r>
            <a:r>
              <a:rPr lang="en-US" dirty="0"/>
              <a:t>ĐỌC </a:t>
            </a:r>
            <a:r>
              <a:rPr lang="vi-VN" dirty="0"/>
              <a:t>BÁO NGHIÊN CỨU KHOA HỌC</a:t>
            </a:r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5299E74-9F85-401D-B9A0-3726F220BD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1378" y="794481"/>
            <a:ext cx="11009243" cy="6248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solidFill>
                  <a:srgbClr val="0070C0"/>
                </a:solidFill>
              </a:rPr>
              <a:t>QUY TRÌNH 3-VÒNG KINH ĐIỂN ĐỂ ĐỌC MỘT BÀI BÁO KHOA HỌC</a:t>
            </a: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VÒNG 3: ĐỌC PHÂN TÍCH – ĐỂ TRÍCH DẪN HOẶC TỔNG HỢP (</a:t>
            </a:r>
            <a:r>
              <a:rPr lang="en-US" b="1" dirty="0" err="1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nếu</a:t>
            </a:r>
            <a:r>
              <a:rPr lang="en-US" b="1" dirty="0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cần</a:t>
            </a:r>
            <a:r>
              <a:rPr lang="en-US" b="1" dirty="0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dùng</a:t>
            </a:r>
            <a:r>
              <a:rPr lang="en-US" b="1" dirty="0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bài</a:t>
            </a:r>
            <a:r>
              <a:rPr lang="en-US" b="1" dirty="0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báo</a:t>
            </a:r>
            <a:r>
              <a:rPr lang="en-US" b="1" dirty="0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này</a:t>
            </a:r>
            <a:r>
              <a:rPr lang="en-US" b="1" dirty="0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trong</a:t>
            </a:r>
            <a:r>
              <a:rPr lang="en-US" b="1" dirty="0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nghiên</a:t>
            </a:r>
            <a:r>
              <a:rPr lang="en-US" b="1" dirty="0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cứu</a:t>
            </a:r>
            <a:r>
              <a:rPr lang="en-US" b="1" dirty="0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của</a:t>
            </a:r>
            <a:r>
              <a:rPr lang="en-US" b="1" dirty="0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mình</a:t>
            </a:r>
            <a:r>
              <a:rPr lang="en-US" b="1" dirty="0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)</a:t>
            </a:r>
          </a:p>
          <a:p>
            <a:pPr marL="0"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effectLst/>
                <a:ea typeface="Times New Roman" panose="02020603050405020304" pitchFamily="18" charset="0"/>
              </a:rPr>
              <a:t>Mục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tiêu</a:t>
            </a:r>
            <a:r>
              <a:rPr lang="en-US" dirty="0">
                <a:effectLst/>
                <a:ea typeface="Times New Roman" panose="02020603050405020304" pitchFamily="18" charset="0"/>
              </a:rPr>
              <a:t>: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Hiểu</a:t>
            </a:r>
            <a:r>
              <a:rPr lang="en-US" dirty="0">
                <a:effectLst/>
                <a:ea typeface="Times New Roman" panose="02020603050405020304" pitchFamily="18" charset="0"/>
              </a:rPr>
              <a:t> chi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tiết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kỹ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thuật</a:t>
            </a:r>
            <a:r>
              <a:rPr lang="en-US" dirty="0">
                <a:effectLst/>
                <a:ea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thuật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toán</a:t>
            </a:r>
            <a:r>
              <a:rPr lang="en-US" dirty="0">
                <a:effectLst/>
                <a:ea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phương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trình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để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mô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phỏng</a:t>
            </a:r>
            <a:r>
              <a:rPr lang="en-US" dirty="0">
                <a:effectLst/>
                <a:ea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áp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dụng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hoặc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phê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bình</a:t>
            </a:r>
            <a:r>
              <a:rPr lang="en-US" dirty="0">
                <a:effectLst/>
                <a:ea typeface="Times New Roman" panose="02020603050405020304" pitchFamily="18" charset="0"/>
              </a:rPr>
              <a:t>.</a:t>
            </a: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err="1">
                <a:effectLst/>
                <a:ea typeface="Times New Roman" panose="02020603050405020304" pitchFamily="18" charset="0"/>
              </a:rPr>
              <a:t>Làm</a:t>
            </a:r>
            <a:r>
              <a:rPr lang="en-US" b="1" dirty="0">
                <a:effectLst/>
                <a:ea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ea typeface="Times New Roman" panose="02020603050405020304" pitchFamily="18" charset="0"/>
              </a:rPr>
              <a:t>gì</a:t>
            </a:r>
            <a:r>
              <a:rPr lang="en-US" b="1" dirty="0">
                <a:effectLst/>
                <a:ea typeface="Times New Roman" panose="02020603050405020304" pitchFamily="18" charset="0"/>
              </a:rPr>
              <a:t> ở </a:t>
            </a:r>
            <a:r>
              <a:rPr lang="en-US" b="1" dirty="0" err="1">
                <a:effectLst/>
                <a:ea typeface="Times New Roman" panose="02020603050405020304" pitchFamily="18" charset="0"/>
              </a:rPr>
              <a:t>bước</a:t>
            </a:r>
            <a:r>
              <a:rPr lang="en-US" b="1" dirty="0">
                <a:effectLst/>
                <a:ea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ea typeface="Times New Roman" panose="02020603050405020304" pitchFamily="18" charset="0"/>
              </a:rPr>
              <a:t>này</a:t>
            </a:r>
            <a:r>
              <a:rPr lang="en-US" b="1" dirty="0">
                <a:effectLst/>
                <a:ea typeface="Times New Roman" panose="02020603050405020304" pitchFamily="18" charset="0"/>
              </a:rPr>
              <a:t>:</a:t>
            </a:r>
            <a:endParaRPr lang="en-US" dirty="0">
              <a:effectLst/>
              <a:ea typeface="Times New Roman" panose="02020603050405020304" pitchFamily="18" charset="0"/>
            </a:endParaRPr>
          </a:p>
          <a:p>
            <a:pPr marL="342900" marR="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 err="1">
                <a:effectLst/>
                <a:ea typeface="Times New Roman" panose="02020603050405020304" pitchFamily="18" charset="0"/>
              </a:rPr>
              <a:t>Đọc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kỹ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ea typeface="Times New Roman" panose="02020603050405020304" pitchFamily="18" charset="0"/>
              </a:rPr>
              <a:t>công</a:t>
            </a:r>
            <a:r>
              <a:rPr lang="en-US" b="1" dirty="0">
                <a:effectLst/>
                <a:ea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ea typeface="Times New Roman" panose="02020603050405020304" pitchFamily="18" charset="0"/>
              </a:rPr>
              <a:t>thức</a:t>
            </a:r>
            <a:r>
              <a:rPr lang="en-US" b="1" dirty="0">
                <a:effectLst/>
                <a:ea typeface="Times New Roman" panose="02020603050405020304" pitchFamily="18" charset="0"/>
              </a:rPr>
              <a:t>, </a:t>
            </a:r>
            <a:r>
              <a:rPr lang="en-US" b="1" dirty="0" err="1">
                <a:effectLst/>
                <a:ea typeface="Times New Roman" panose="02020603050405020304" pitchFamily="18" charset="0"/>
              </a:rPr>
              <a:t>mô</a:t>
            </a:r>
            <a:r>
              <a:rPr lang="en-US" b="1" dirty="0">
                <a:effectLst/>
                <a:ea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ea typeface="Times New Roman" panose="02020603050405020304" pitchFamily="18" charset="0"/>
              </a:rPr>
              <a:t>hình</a:t>
            </a:r>
            <a:r>
              <a:rPr lang="en-US" b="1" dirty="0">
                <a:effectLst/>
                <a:ea typeface="Times New Roman" panose="02020603050405020304" pitchFamily="18" charset="0"/>
              </a:rPr>
              <a:t>, </a:t>
            </a:r>
            <a:r>
              <a:rPr lang="en-US" b="1" dirty="0" err="1">
                <a:effectLst/>
                <a:ea typeface="Times New Roman" panose="02020603050405020304" pitchFamily="18" charset="0"/>
              </a:rPr>
              <a:t>cấu</a:t>
            </a:r>
            <a:r>
              <a:rPr lang="en-US" b="1" dirty="0">
                <a:effectLst/>
                <a:ea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ea typeface="Times New Roman" panose="02020603050405020304" pitchFamily="18" charset="0"/>
              </a:rPr>
              <a:t>trúc</a:t>
            </a:r>
            <a:r>
              <a:rPr lang="en-US" b="1" dirty="0">
                <a:effectLst/>
                <a:ea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ea typeface="Times New Roman" panose="02020603050405020304" pitchFamily="18" charset="0"/>
              </a:rPr>
              <a:t>thuật</a:t>
            </a:r>
            <a:r>
              <a:rPr lang="en-US" b="1" dirty="0">
                <a:effectLst/>
                <a:ea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ea typeface="Times New Roman" panose="02020603050405020304" pitchFamily="18" charset="0"/>
              </a:rPr>
              <a:t>toán</a:t>
            </a:r>
            <a:r>
              <a:rPr lang="en-US" dirty="0">
                <a:effectLst/>
                <a:ea typeface="Times New Roman" panose="02020603050405020304" pitchFamily="18" charset="0"/>
              </a:rPr>
              <a:t>.</a:t>
            </a:r>
          </a:p>
          <a:p>
            <a:pPr marL="342900" marR="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 err="1">
                <a:effectLst/>
                <a:ea typeface="Times New Roman" panose="02020603050405020304" pitchFamily="18" charset="0"/>
              </a:rPr>
              <a:t>Kiểm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tra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kỹ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ea typeface="Times New Roman" panose="02020603050405020304" pitchFamily="18" charset="0"/>
              </a:rPr>
              <a:t>tài</a:t>
            </a:r>
            <a:r>
              <a:rPr lang="en-US" b="1" dirty="0">
                <a:effectLst/>
                <a:ea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ea typeface="Times New Roman" panose="02020603050405020304" pitchFamily="18" charset="0"/>
              </a:rPr>
              <a:t>liệu</a:t>
            </a:r>
            <a:r>
              <a:rPr lang="en-US" b="1" dirty="0">
                <a:effectLst/>
                <a:ea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ea typeface="Times New Roman" panose="02020603050405020304" pitchFamily="18" charset="0"/>
              </a:rPr>
              <a:t>tham</a:t>
            </a:r>
            <a:r>
              <a:rPr lang="en-US" b="1" dirty="0">
                <a:effectLst/>
                <a:ea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ea typeface="Times New Roman" panose="02020603050405020304" pitchFamily="18" charset="0"/>
              </a:rPr>
              <a:t>khảo</a:t>
            </a:r>
            <a:r>
              <a:rPr lang="en-US" b="1" dirty="0">
                <a:effectLst/>
                <a:ea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ea typeface="Times New Roman" panose="02020603050405020304" pitchFamily="18" charset="0"/>
              </a:rPr>
              <a:t>liên</a:t>
            </a:r>
            <a:r>
              <a:rPr lang="en-US" b="1" dirty="0">
                <a:effectLst/>
                <a:ea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ea typeface="Times New Roman" panose="02020603050405020304" pitchFamily="18" charset="0"/>
              </a:rPr>
              <a:t>quan</a:t>
            </a:r>
            <a:r>
              <a:rPr lang="en-US" dirty="0">
                <a:effectLst/>
                <a:ea typeface="Times New Roman" panose="02020603050405020304" pitchFamily="18" charset="0"/>
              </a:rPr>
              <a:t> (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xem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họ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dựa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trên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nghiên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cứu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nào</a:t>
            </a:r>
            <a:r>
              <a:rPr lang="en-US" dirty="0">
                <a:effectLst/>
                <a:ea typeface="Times New Roman" panose="02020603050405020304" pitchFamily="18" charset="0"/>
              </a:rPr>
              <a:t>).</a:t>
            </a:r>
          </a:p>
          <a:p>
            <a:pPr marL="342900" marR="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 err="1">
                <a:effectLst/>
                <a:ea typeface="Times New Roman" panose="02020603050405020304" pitchFamily="18" charset="0"/>
              </a:rPr>
              <a:t>Nếu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bài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báo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dùng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dữ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liệu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hoặc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mã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nguồn</a:t>
            </a:r>
            <a:r>
              <a:rPr lang="en-US" dirty="0">
                <a:effectLst/>
                <a:ea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tìm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xem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có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thể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tải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được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không</a:t>
            </a:r>
            <a:r>
              <a:rPr lang="en-US" dirty="0">
                <a:effectLst/>
                <a:ea typeface="Times New Roman" panose="02020603050405020304" pitchFamily="18" charset="0"/>
              </a:rPr>
              <a:t> (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thường</a:t>
            </a:r>
            <a:r>
              <a:rPr lang="en-US" dirty="0">
                <a:effectLst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có</a:t>
            </a:r>
            <a:r>
              <a:rPr lang="en-US" dirty="0">
                <a:effectLst/>
                <a:ea typeface="Times New Roman" panose="02020603050405020304" pitchFamily="18" charset="0"/>
              </a:rPr>
              <a:t> ở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phần</a:t>
            </a:r>
            <a:r>
              <a:rPr lang="en-US" dirty="0">
                <a:effectLst/>
                <a:ea typeface="Times New Roman" panose="02020603050405020304" pitchFamily="18" charset="0"/>
              </a:rPr>
              <a:t> "Supplementary Materials"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hoặc</a:t>
            </a:r>
            <a:r>
              <a:rPr lang="en-US" dirty="0">
                <a:effectLst/>
                <a:ea typeface="Times New Roman" panose="02020603050405020304" pitchFamily="18" charset="0"/>
              </a:rPr>
              <a:t> "GitHub").</a:t>
            </a:r>
          </a:p>
          <a:p>
            <a:pPr marL="342900" marR="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dirty="0">
              <a:effectLst/>
              <a:ea typeface="Times New Roman" panose="02020603050405020304" pitchFamily="18" charset="0"/>
            </a:endParaRPr>
          </a:p>
          <a:p>
            <a:pPr marL="0"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effectLst/>
                <a:ea typeface="Times New Roman" panose="02020603050405020304" pitchFamily="18" charset="0"/>
              </a:rPr>
              <a:t>🎓 </a:t>
            </a:r>
            <a:r>
              <a:rPr lang="en-US" i="1" dirty="0" err="1">
                <a:effectLst/>
                <a:ea typeface="Times New Roman" panose="02020603050405020304" pitchFamily="18" charset="0"/>
              </a:rPr>
              <a:t>Giai</a:t>
            </a:r>
            <a:r>
              <a:rPr lang="en-US" i="1" dirty="0">
                <a:effectLst/>
                <a:ea typeface="Times New Roman" panose="02020603050405020304" pitchFamily="18" charset="0"/>
              </a:rPr>
              <a:t> </a:t>
            </a:r>
            <a:r>
              <a:rPr lang="en-US" i="1" dirty="0" err="1">
                <a:effectLst/>
                <a:ea typeface="Times New Roman" panose="02020603050405020304" pitchFamily="18" charset="0"/>
              </a:rPr>
              <a:t>đoạn</a:t>
            </a:r>
            <a:r>
              <a:rPr lang="en-US" i="1" dirty="0">
                <a:effectLst/>
                <a:ea typeface="Times New Roman" panose="02020603050405020304" pitchFamily="18" charset="0"/>
              </a:rPr>
              <a:t> </a:t>
            </a:r>
            <a:r>
              <a:rPr lang="en-US" i="1" dirty="0" err="1">
                <a:effectLst/>
                <a:ea typeface="Times New Roman" panose="02020603050405020304" pitchFamily="18" charset="0"/>
              </a:rPr>
              <a:t>này</a:t>
            </a:r>
            <a:r>
              <a:rPr lang="en-US" i="1" dirty="0">
                <a:effectLst/>
                <a:ea typeface="Times New Roman" panose="02020603050405020304" pitchFamily="18" charset="0"/>
              </a:rPr>
              <a:t> </a:t>
            </a:r>
            <a:r>
              <a:rPr lang="en-US" i="1" dirty="0" err="1">
                <a:effectLst/>
                <a:ea typeface="Times New Roman" panose="02020603050405020304" pitchFamily="18" charset="0"/>
              </a:rPr>
              <a:t>thường</a:t>
            </a:r>
            <a:r>
              <a:rPr lang="en-US" i="1" dirty="0">
                <a:effectLst/>
                <a:ea typeface="Times New Roman" panose="02020603050405020304" pitchFamily="18" charset="0"/>
              </a:rPr>
              <a:t> </a:t>
            </a:r>
            <a:r>
              <a:rPr lang="en-US" i="1" dirty="0" err="1">
                <a:effectLst/>
                <a:ea typeface="Times New Roman" panose="02020603050405020304" pitchFamily="18" charset="0"/>
              </a:rPr>
              <a:t>dành</a:t>
            </a:r>
            <a:r>
              <a:rPr lang="en-US" i="1" dirty="0">
                <a:effectLst/>
                <a:ea typeface="Times New Roman" panose="02020603050405020304" pitchFamily="18" charset="0"/>
              </a:rPr>
              <a:t> </a:t>
            </a:r>
            <a:r>
              <a:rPr lang="en-US" i="1" dirty="0" err="1">
                <a:effectLst/>
                <a:ea typeface="Times New Roman" panose="02020603050405020304" pitchFamily="18" charset="0"/>
              </a:rPr>
              <a:t>cho</a:t>
            </a:r>
            <a:r>
              <a:rPr lang="en-US" i="1" dirty="0">
                <a:effectLst/>
                <a:ea typeface="Times New Roman" panose="02020603050405020304" pitchFamily="18" charset="0"/>
              </a:rPr>
              <a:t> </a:t>
            </a:r>
            <a:r>
              <a:rPr lang="en-US" i="1" dirty="0" err="1">
                <a:effectLst/>
                <a:ea typeface="Times New Roman" panose="02020603050405020304" pitchFamily="18" charset="0"/>
              </a:rPr>
              <a:t>sinh</a:t>
            </a:r>
            <a:r>
              <a:rPr lang="en-US" i="1" dirty="0">
                <a:effectLst/>
                <a:ea typeface="Times New Roman" panose="02020603050405020304" pitchFamily="18" charset="0"/>
              </a:rPr>
              <a:t> </a:t>
            </a:r>
            <a:r>
              <a:rPr lang="en-US" i="1" dirty="0" err="1">
                <a:effectLst/>
                <a:ea typeface="Times New Roman" panose="02020603050405020304" pitchFamily="18" charset="0"/>
              </a:rPr>
              <a:t>viên</a:t>
            </a:r>
            <a:r>
              <a:rPr lang="en-US" i="1" dirty="0">
                <a:effectLst/>
                <a:ea typeface="Times New Roman" panose="02020603050405020304" pitchFamily="18" charset="0"/>
              </a:rPr>
              <a:t> </a:t>
            </a:r>
            <a:r>
              <a:rPr lang="en-US" i="1" dirty="0" err="1">
                <a:effectLst/>
                <a:ea typeface="Times New Roman" panose="02020603050405020304" pitchFamily="18" charset="0"/>
              </a:rPr>
              <a:t>làm</a:t>
            </a:r>
            <a:r>
              <a:rPr lang="en-US" i="1" dirty="0">
                <a:effectLst/>
                <a:ea typeface="Times New Roman" panose="02020603050405020304" pitchFamily="18" charset="0"/>
              </a:rPr>
              <a:t> </a:t>
            </a:r>
            <a:r>
              <a:rPr lang="en-US" i="1" dirty="0" err="1">
                <a:effectLst/>
                <a:ea typeface="Times New Roman" panose="02020603050405020304" pitchFamily="18" charset="0"/>
              </a:rPr>
              <a:t>đề</a:t>
            </a:r>
            <a:r>
              <a:rPr lang="en-US" i="1" dirty="0">
                <a:effectLst/>
                <a:ea typeface="Times New Roman" panose="02020603050405020304" pitchFamily="18" charset="0"/>
              </a:rPr>
              <a:t> </a:t>
            </a:r>
            <a:r>
              <a:rPr lang="en-US" i="1" dirty="0" err="1">
                <a:effectLst/>
                <a:ea typeface="Times New Roman" panose="02020603050405020304" pitchFamily="18" charset="0"/>
              </a:rPr>
              <a:t>tài</a:t>
            </a:r>
            <a:r>
              <a:rPr lang="en-US" i="1" dirty="0">
                <a:effectLst/>
                <a:ea typeface="Times New Roman" panose="02020603050405020304" pitchFamily="18" charset="0"/>
              </a:rPr>
              <a:t> </a:t>
            </a:r>
            <a:r>
              <a:rPr lang="en-US" i="1" dirty="0" err="1">
                <a:effectLst/>
                <a:ea typeface="Times New Roman" panose="02020603050405020304" pitchFamily="18" charset="0"/>
              </a:rPr>
              <a:t>tốt</a:t>
            </a:r>
            <a:r>
              <a:rPr lang="en-US" i="1" dirty="0">
                <a:effectLst/>
                <a:ea typeface="Times New Roman" panose="02020603050405020304" pitchFamily="18" charset="0"/>
              </a:rPr>
              <a:t> </a:t>
            </a:r>
            <a:r>
              <a:rPr lang="en-US" i="1" dirty="0" err="1">
                <a:effectLst/>
                <a:ea typeface="Times New Roman" panose="02020603050405020304" pitchFamily="18" charset="0"/>
              </a:rPr>
              <a:t>nghiệp</a:t>
            </a:r>
            <a:r>
              <a:rPr lang="en-US" i="1" dirty="0">
                <a:effectLst/>
                <a:ea typeface="Times New Roman" panose="02020603050405020304" pitchFamily="18" charset="0"/>
              </a:rPr>
              <a:t> </a:t>
            </a:r>
            <a:r>
              <a:rPr lang="en-US" i="1" dirty="0" err="1">
                <a:effectLst/>
                <a:ea typeface="Times New Roman" panose="02020603050405020304" pitchFamily="18" charset="0"/>
              </a:rPr>
              <a:t>hoặc</a:t>
            </a:r>
            <a:r>
              <a:rPr lang="en-US" i="1" dirty="0">
                <a:effectLst/>
                <a:ea typeface="Times New Roman" panose="02020603050405020304" pitchFamily="18" charset="0"/>
              </a:rPr>
              <a:t> </a:t>
            </a:r>
            <a:r>
              <a:rPr lang="en-US" i="1" dirty="0" err="1">
                <a:effectLst/>
                <a:ea typeface="Times New Roman" panose="02020603050405020304" pitchFamily="18" charset="0"/>
              </a:rPr>
              <a:t>đang</a:t>
            </a:r>
            <a:r>
              <a:rPr lang="en-US" i="1" dirty="0">
                <a:effectLst/>
                <a:ea typeface="Times New Roman" panose="02020603050405020304" pitchFamily="18" charset="0"/>
              </a:rPr>
              <a:t> </a:t>
            </a:r>
            <a:r>
              <a:rPr lang="en-US" i="1" dirty="0" err="1">
                <a:effectLst/>
                <a:ea typeface="Times New Roman" panose="02020603050405020304" pitchFamily="18" charset="0"/>
              </a:rPr>
              <a:t>viết</a:t>
            </a:r>
            <a:r>
              <a:rPr lang="en-US" i="1" dirty="0">
                <a:effectLst/>
                <a:ea typeface="Times New Roman" panose="02020603050405020304" pitchFamily="18" charset="0"/>
              </a:rPr>
              <a:t> </a:t>
            </a:r>
            <a:r>
              <a:rPr lang="en-US" i="1" dirty="0" err="1">
                <a:effectLst/>
                <a:ea typeface="Times New Roman" panose="02020603050405020304" pitchFamily="18" charset="0"/>
              </a:rPr>
              <a:t>bài</a:t>
            </a:r>
            <a:r>
              <a:rPr lang="en-US" i="1" dirty="0">
                <a:effectLst/>
                <a:ea typeface="Times New Roman" panose="02020603050405020304" pitchFamily="18" charset="0"/>
              </a:rPr>
              <a:t> </a:t>
            </a:r>
            <a:r>
              <a:rPr lang="en-US" i="1" dirty="0" err="1">
                <a:effectLst/>
                <a:ea typeface="Times New Roman" panose="02020603050405020304" pitchFamily="18" charset="0"/>
              </a:rPr>
              <a:t>báo</a:t>
            </a:r>
            <a:r>
              <a:rPr lang="en-US" i="1" dirty="0">
                <a:effectLst/>
                <a:ea typeface="Times New Roman" panose="02020603050405020304" pitchFamily="18" charset="0"/>
              </a:rPr>
              <a:t> khoa </a:t>
            </a:r>
            <a:r>
              <a:rPr lang="en-US" i="1" dirty="0" err="1">
                <a:effectLst/>
                <a:ea typeface="Times New Roman" panose="02020603050405020304" pitchFamily="18" charset="0"/>
              </a:rPr>
              <a:t>học</a:t>
            </a:r>
            <a:r>
              <a:rPr lang="en-US" i="1" dirty="0">
                <a:effectLst/>
                <a:ea typeface="Times New Roman" panose="02020603050405020304" pitchFamily="18" charset="0"/>
              </a:rPr>
              <a:t>.</a:t>
            </a:r>
            <a:endParaRPr lang="en-US" dirty="0">
              <a:effectLst/>
              <a:ea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19838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82820-00F4-4D6F-9699-02E9D0854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182" y="161213"/>
            <a:ext cx="11009243" cy="880579"/>
          </a:xfrm>
        </p:spPr>
        <p:txBody>
          <a:bodyPr>
            <a:noAutofit/>
          </a:bodyPr>
          <a:lstStyle/>
          <a:p>
            <a:r>
              <a:rPr lang="vi-VN" dirty="0"/>
              <a:t>HƯỚNG DẪN </a:t>
            </a:r>
            <a:r>
              <a:rPr lang="en-US" dirty="0"/>
              <a:t>ĐỌC </a:t>
            </a:r>
            <a:r>
              <a:rPr lang="vi-VN" dirty="0"/>
              <a:t>BÁO NGHIÊN CỨU KHOA HỌC</a:t>
            </a:r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5299E74-9F85-401D-B9A0-3726F220BD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1378" y="751808"/>
            <a:ext cx="11009243" cy="579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solidFill>
                  <a:srgbClr val="0070C0"/>
                </a:solidFill>
              </a:rPr>
              <a:t>NOTE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945033B-968F-4846-B5B5-8436FCFE54D5}"/>
              </a:ext>
            </a:extLst>
          </p:cNvPr>
          <p:cNvGraphicFramePr>
            <a:graphicFrameLocks noGrp="1"/>
          </p:cNvGraphicFramePr>
          <p:nvPr/>
        </p:nvGraphicFramePr>
        <p:xfrm>
          <a:off x="591377" y="1331775"/>
          <a:ext cx="11335580" cy="5135287"/>
        </p:xfrm>
        <a:graphic>
          <a:graphicData uri="http://schemas.openxmlformats.org/drawingml/2006/table">
            <a:tbl>
              <a:tblPr/>
              <a:tblGrid>
                <a:gridCol w="4855266">
                  <a:extLst>
                    <a:ext uri="{9D8B030D-6E8A-4147-A177-3AD203B41FA5}">
                      <a16:colId xmlns:a16="http://schemas.microsoft.com/office/drawing/2014/main" val="1482151394"/>
                    </a:ext>
                  </a:extLst>
                </a:gridCol>
                <a:gridCol w="6480314">
                  <a:extLst>
                    <a:ext uri="{9D8B030D-6E8A-4147-A177-3AD203B41FA5}">
                      <a16:colId xmlns:a16="http://schemas.microsoft.com/office/drawing/2014/main" val="2582178324"/>
                    </a:ext>
                  </a:extLst>
                </a:gridCol>
              </a:tblGrid>
              <a:tr h="477701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0000"/>
                          </a:solidFill>
                        </a:rPr>
                        <a:t>Mẹo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rgbClr val="FF0000"/>
                          </a:solidFill>
                        </a:rPr>
                        <a:t>Mô</a:t>
                      </a: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rgbClr val="FF0000"/>
                          </a:solidFill>
                        </a:rPr>
                        <a:t>tả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1970673"/>
                  </a:ext>
                </a:extLst>
              </a:tr>
              <a:tr h="477701">
                <a:tc>
                  <a:txBody>
                    <a:bodyPr/>
                    <a:lstStyle/>
                    <a:p>
                      <a:r>
                        <a:rPr lang="en-US"/>
                        <a:t>📌 Đừng đọc từ đầu đến cuối ngay!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Sẽ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rất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mất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thời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gian</a:t>
                      </a:r>
                      <a:r>
                        <a:rPr lang="en-US" dirty="0"/>
                        <a:t>. </a:t>
                      </a:r>
                      <a:r>
                        <a:rPr lang="en-US" dirty="0" err="1"/>
                        <a:t>Luôn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đọc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theo</a:t>
                      </a:r>
                      <a:r>
                        <a:rPr lang="en-US" dirty="0"/>
                        <a:t> 3 </a:t>
                      </a:r>
                      <a:r>
                        <a:rPr lang="en-US" dirty="0" err="1"/>
                        <a:t>vòng</a:t>
                      </a:r>
                      <a:r>
                        <a:rPr lang="en-US" dirty="0"/>
                        <a:t> ở </a:t>
                      </a:r>
                      <a:r>
                        <a:rPr lang="en-US" dirty="0" err="1"/>
                        <a:t>trên</a:t>
                      </a:r>
                      <a:r>
                        <a:rPr lang="en-US" dirty="0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022592"/>
                  </a:ext>
                </a:extLst>
              </a:tr>
              <a:tr h="835977">
                <a:tc>
                  <a:txBody>
                    <a:bodyPr/>
                    <a:lstStyle/>
                    <a:p>
                      <a:r>
                        <a:rPr lang="en-US"/>
                        <a:t>✏️ Ghi chú khi đọc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vi-VN"/>
                        <a:t>Ghi lại "Mục tiêu – Phương pháp – Kết quả – Ý tưởng hay" vào sổ tay hoặc Notion.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5207976"/>
                  </a:ext>
                </a:extLst>
              </a:tr>
              <a:tr h="835977">
                <a:tc>
                  <a:txBody>
                    <a:bodyPr/>
                    <a:lstStyle/>
                    <a:p>
                      <a:r>
                        <a:rPr lang="en-US"/>
                        <a:t>🔍 Tập trung vào phần bạn cần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vi-VN"/>
                        <a:t>Nếu bạn chỉ quan tâm phương pháp, hãy chỉ đọc kỹ phần đó.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6745413"/>
                  </a:ext>
                </a:extLst>
              </a:tr>
              <a:tr h="835977">
                <a:tc>
                  <a:txBody>
                    <a:bodyPr/>
                    <a:lstStyle/>
                    <a:p>
                      <a:r>
                        <a:rPr lang="en-US"/>
                        <a:t>🧩 Đọc nhiều bài cùng chủ đề để thấy mô hình chung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vi-VN"/>
                        <a:t>Cùng một lĩnh vực, đọc 5–7 bài sẽ giúp bạn "nắm được ngôn ngữ chuyên ngành".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6177829"/>
                  </a:ext>
                </a:extLst>
              </a:tr>
              <a:tr h="835977">
                <a:tc>
                  <a:txBody>
                    <a:bodyPr/>
                    <a:lstStyle/>
                    <a:p>
                      <a:r>
                        <a:rPr lang="en-US"/>
                        <a:t>🧑‍🤝‍🧑 Học theo nhóm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vi-VN"/>
                        <a:t>Thảo luận nhóm sau khi mỗi người đọc 1 bài để tiết kiệm thời gian và hiểu sâu hơn.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4664344"/>
                  </a:ext>
                </a:extLst>
              </a:tr>
              <a:tr h="835977">
                <a:tc>
                  <a:txBody>
                    <a:bodyPr/>
                    <a:lstStyle/>
                    <a:p>
                      <a:r>
                        <a:rPr lang="en-US"/>
                        <a:t>🧰 Sử dụng AI hỗ trợ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vi-VN" dirty="0"/>
                        <a:t>Dùng ChatGPT (như mình nè!) để tóm tắt bài báo, dịch thuật, hoặc giải thích phần khó hiểu.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1731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9051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82820-00F4-4D6F-9699-02E9D0854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182" y="161213"/>
            <a:ext cx="11009243" cy="880579"/>
          </a:xfrm>
        </p:spPr>
        <p:txBody>
          <a:bodyPr>
            <a:noAutofit/>
          </a:bodyPr>
          <a:lstStyle/>
          <a:p>
            <a:r>
              <a:rPr lang="vi-VN" dirty="0"/>
              <a:t>HƯỚNG DẪN </a:t>
            </a:r>
            <a:r>
              <a:rPr lang="en-US" dirty="0"/>
              <a:t>ĐỌC </a:t>
            </a:r>
            <a:r>
              <a:rPr lang="vi-VN" dirty="0"/>
              <a:t>BÁO NGHIÊN CỨU KHOA HỌC</a:t>
            </a:r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5299E74-9F85-401D-B9A0-3726F220BD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32181" y="739885"/>
            <a:ext cx="11009243" cy="5052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vi-VN" b="1" dirty="0">
                <a:solidFill>
                  <a:srgbClr val="FF0000"/>
                </a:solidFill>
              </a:rPr>
              <a:t>MẪU CÂU HỎI GIÚP ĐỌC HIỂU MỘT BÀI BÁO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 </a:t>
            </a:r>
            <a:r>
              <a:rPr lang="vi-VN" dirty="0"/>
              <a:t>Bài báo này đang giải quyết vấn đề gì?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 </a:t>
            </a:r>
            <a:r>
              <a:rPr lang="vi-VN" dirty="0"/>
              <a:t>Phương pháp tiếp cận của tác giả là gì?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 </a:t>
            </a:r>
            <a:r>
              <a:rPr lang="vi-VN" dirty="0"/>
              <a:t>Điểm mới hoặc đóng góp chính là gì?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 </a:t>
            </a:r>
            <a:r>
              <a:rPr lang="vi-VN" dirty="0"/>
              <a:t>Kết quả có gì nổi bật? Có đáng tin cậy không?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 </a:t>
            </a:r>
            <a:r>
              <a:rPr lang="vi-VN" dirty="0"/>
              <a:t>Tôi có thể áp dụng được gì cho đề tài của mình?</a:t>
            </a:r>
          </a:p>
        </p:txBody>
      </p:sp>
    </p:spTree>
    <p:extLst>
      <p:ext uri="{BB962C8B-B14F-4D97-AF65-F5344CB8AC3E}">
        <p14:creationId xmlns:p14="http://schemas.microsoft.com/office/powerpoint/2010/main" val="13834322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82820-00F4-4D6F-9699-02E9D0854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182" y="161213"/>
            <a:ext cx="11009243" cy="880579"/>
          </a:xfrm>
        </p:spPr>
        <p:txBody>
          <a:bodyPr>
            <a:noAutofit/>
          </a:bodyPr>
          <a:lstStyle/>
          <a:p>
            <a:r>
              <a:rPr lang="vi-VN" dirty="0"/>
              <a:t>HƯỚNG DẪN </a:t>
            </a:r>
            <a:r>
              <a:rPr lang="en-US" dirty="0"/>
              <a:t>ĐỌC </a:t>
            </a:r>
            <a:r>
              <a:rPr lang="vi-VN" dirty="0"/>
              <a:t>BÁO NGHIÊN CỨU KHOA HỌC</a:t>
            </a:r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5299E74-9F85-401D-B9A0-3726F220BD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32181" y="1041792"/>
            <a:ext cx="11009243" cy="579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solidFill>
                  <a:srgbClr val="0070C0"/>
                </a:solidFill>
              </a:rPr>
              <a:t>NOTE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6CED56D-255C-417F-A780-E8FB2C77B001}"/>
              </a:ext>
            </a:extLst>
          </p:cNvPr>
          <p:cNvGraphicFramePr>
            <a:graphicFrameLocks noGrp="1"/>
          </p:cNvGraphicFramePr>
          <p:nvPr/>
        </p:nvGraphicFramePr>
        <p:xfrm>
          <a:off x="732182" y="1632387"/>
          <a:ext cx="10515600" cy="4114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85275318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5837825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Mục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Ghi</a:t>
                      </a: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="1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chú</a:t>
                      </a:r>
                      <a:endParaRPr lang="en-US" sz="2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53843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Tên</a:t>
                      </a: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bài</a:t>
                      </a: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báo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94718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Tác giả &amp; năm</a:t>
                      </a:r>
                      <a:endParaRPr 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20807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Nguồn (Tạp chí / Hội thảo)</a:t>
                      </a:r>
                      <a:endParaRPr 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2703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Mục</a:t>
                      </a: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tiêu</a:t>
                      </a: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nghiên</a:t>
                      </a: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cứu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6812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vi-V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Phương pháp sử dụng</a:t>
                      </a:r>
                      <a:endParaRPr lang="vi-V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87408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Kết quả chính</a:t>
                      </a:r>
                      <a:endParaRPr 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7065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Điểm mạnh / Hạn chế</a:t>
                      </a:r>
                      <a:endParaRPr 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56260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vi-V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Ý tưởng có thể học hỏi / áp dụng</a:t>
                      </a:r>
                      <a:endParaRPr lang="vi-V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5984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50012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82820-00F4-4D6F-9699-02E9D0854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378" y="2988710"/>
            <a:ext cx="11009243" cy="880579"/>
          </a:xfrm>
        </p:spPr>
        <p:txBody>
          <a:bodyPr>
            <a:noAutofit/>
          </a:bodyPr>
          <a:lstStyle/>
          <a:p>
            <a:pPr algn="ctr"/>
            <a:r>
              <a:rPr lang="en-US" sz="6600" i="1" dirty="0"/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13082747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1704</Words>
  <Application>Microsoft Office PowerPoint</Application>
  <PresentationFormat>Widescreen</PresentationFormat>
  <Paragraphs>158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Calibri Light</vt:lpstr>
      <vt:lpstr>Segoe UI Emoji</vt:lpstr>
      <vt:lpstr>Symbol</vt:lpstr>
      <vt:lpstr>Times New Roman</vt:lpstr>
      <vt:lpstr>Office Theme</vt:lpstr>
      <vt:lpstr>HƯỚNG DẪN NCKH</vt:lpstr>
      <vt:lpstr>HƯỚNG DẪN VIẾT BÀI BÁO NGHIÊN CỨU KHOA HỌC</vt:lpstr>
      <vt:lpstr>HƯỚNG DẪN VIẾT BÀI BÁO NGHIÊN CỨU KHOA HỌC</vt:lpstr>
      <vt:lpstr>HƯỚNG DẪN VIẾT BÀI BÁO NGHIÊN CỨU KHOA HỌC</vt:lpstr>
      <vt:lpstr>HƯỚNG DẪN VIẾT BÀI BÁO NGHIÊN CỨU KHOA HỌC</vt:lpstr>
      <vt:lpstr>HƯỚNG DẪN VIẾT BÀI BÁO NGHIÊN CỨU KHOA HỌC</vt:lpstr>
      <vt:lpstr>HƯỚNG DẪN VIẾT BÁO NGHIÊN CỨU KHOA HỌC</vt:lpstr>
      <vt:lpstr>HƯỚNG DẪN VIẾT BÁO NGHIÊN CỨU KHOA HỌC</vt:lpstr>
      <vt:lpstr>HƯỚNG DẪN VIẾT BÁO NGHIÊN CỨU KHOA HỌC</vt:lpstr>
      <vt:lpstr>HƯỚNG DẪN ĐỌC BÁO NGHIÊN CỨU KHOA HỌC</vt:lpstr>
      <vt:lpstr>HƯỚNG DẪN ĐỌC BÁO NGHIÊN CỨU KHOA HỌC</vt:lpstr>
      <vt:lpstr>HƯỚNG DẪN ĐỌC BÁO NGHIÊN CỨU KHOA HỌC</vt:lpstr>
      <vt:lpstr>HƯỚNG DẪN ĐỌC BÁO NGHIÊN CỨU KHOA HỌC</vt:lpstr>
      <vt:lpstr>HƯỚNG DẪN ĐỌC BÁO NGHIÊN CỨU KHOA HỌC</vt:lpstr>
      <vt:lpstr>HƯỚNG DẪN ĐỌC BÁO NGHIÊN CỨU KHOA HỌC</vt:lpstr>
      <vt:lpstr>HƯỚNG DẪN ĐỌC BÁO NGHIÊN CỨU KHOA HỌC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HƯỚNG DẪN NCKH</dc:title>
  <dc:creator>Đặng Văn Hiếu</dc:creator>
  <cp:lastModifiedBy>admin</cp:lastModifiedBy>
  <cp:revision>12</cp:revision>
  <dcterms:created xsi:type="dcterms:W3CDTF">2025-05-29T04:45:56Z</dcterms:created>
  <dcterms:modified xsi:type="dcterms:W3CDTF">2026-01-12T01:54:38Z</dcterms:modified>
</cp:coreProperties>
</file>